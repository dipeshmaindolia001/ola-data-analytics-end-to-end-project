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Rides</c:v>
                </c:pt>
              </c:strCache>
            </c:strRef>
          </c:tx>
          <c:spPr>
            <a:solidFill>
              <a:srgbClr val="0B3D2E"/>
            </a:solidFill>
            <a:ln w="38100" cap="flat">
              <a:solidFill>
                <a:srgbClr val="0B3D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3D2E"/>
              </a:solidFill>
              <a:ln w="9525" cap="flat">
                <a:solidFill>
                  <a:srgbClr val="0B3D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</c:v>
                </c:pt>
                <c:pt idx="1">
                  <c:v>460</c:v>
                </c:pt>
                <c:pt idx="2">
                  <c:v>510</c:v>
                </c:pt>
                <c:pt idx="3">
                  <c:v>490</c:v>
                </c:pt>
                <c:pt idx="4">
                  <c:v>560</c:v>
                </c:pt>
                <c:pt idx="5">
                  <c:v>600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D2E"/>
              </a:solidFill>
              <a:effectLst/>
            </c:spPr>
          </c:dPt>
          <c:dPt>
            <c:idx val="1"/>
            <c:bubble3D val="0"/>
            <c:spPr>
              <a:solidFill>
                <a:srgbClr val="F5C518"/>
              </a:solidFill>
              <a:effectLst/>
            </c:spPr>
          </c:dPt>
          <c:dPt>
            <c:idx val="2"/>
            <c:bubble3D val="0"/>
            <c:spPr>
              <a:solidFill>
                <a:srgbClr val="8FB9A8"/>
              </a:solidFill>
              <a:effectLst/>
            </c:spPr>
          </c:dPt>
          <c:dPt>
            <c:idx val="3"/>
            <c:bubble3D val="0"/>
            <c:spPr>
              <a:solidFill>
                <a:srgbClr val="C9C9C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Success</c:v>
                </c:pt>
                <c:pt idx="1">
                  <c:v>Cancelled by Customer</c:v>
                </c:pt>
                <c:pt idx="2">
                  <c:v>Cancelled by Driver</c:v>
                </c:pt>
                <c:pt idx="3">
                  <c:v>Incomplete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68</c:v>
                </c:pt>
                <c:pt idx="1">
                  <c:v>14</c:v>
                </c:pt>
                <c:pt idx="2">
                  <c:v>12</c:v>
                </c:pt>
                <c:pt idx="3">
                  <c:v>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Distance (km)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Mini</c:v>
                  </c:pt>
                  <c:pt idx="1">
                    <c:v>Sedan</c:v>
                  </c:pt>
                  <c:pt idx="2">
                    <c:v>SUV</c:v>
                  </c:pt>
                  <c:pt idx="3">
                    <c:v>Auto</c:v>
                  </c:pt>
                  <c:pt idx="4">
                    <c:v>Bike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18400</c:v>
                </c:pt>
                <c:pt idx="1">
                  <c:v>15200</c:v>
                </c:pt>
                <c:pt idx="2">
                  <c:v>12100</c:v>
                </c:pt>
                <c:pt idx="3">
                  <c:v>9800</c:v>
                </c:pt>
                <c:pt idx="4">
                  <c:v>7600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UPI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Revenue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Cash</c:v>
                </c:pt>
              </c:strCache>
            </c:strRef>
          </c:tx>
          <c:spPr>
            <a:solidFill>
              <a:srgbClr val="F5C51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Revenue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Credit Card</c:v>
                </c:pt>
              </c:strCache>
            </c:strRef>
          </c:tx>
          <c:spPr>
            <a:solidFill>
              <a:srgbClr val="8FB9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Revenue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Wallet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Revenue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Reasons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Driver not moving</c:v>
                  </c:pt>
                  <c:pt idx="1">
                    <c:v>Change of plans</c:v>
                  </c:pt>
                  <c:pt idx="2">
                    <c:v>Wrong address</c:v>
                  </c:pt>
                  <c:pt idx="3">
                    <c:v>Price too high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27</c:v>
                </c:pt>
                <c:pt idx="2">
                  <c:v>21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Reasons</c:v>
                </c:pt>
              </c:strCache>
            </c:strRef>
          </c:tx>
          <c:spPr>
            <a:solidFill>
              <a:srgbClr val="F5C51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Customer no-show</c:v>
                  </c:pt>
                  <c:pt idx="1">
                    <c:v>Vehicle issue</c:v>
                  </c:pt>
                  <c:pt idx="2">
                    <c:v>Personal reasons</c:v>
                  </c:pt>
                  <c:pt idx="3">
                    <c:v>Traffic / distance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26</c:v>
                </c:pt>
                <c:pt idx="2">
                  <c:v>24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Mini</c:v>
                  </c:pt>
                  <c:pt idx="1">
                    <c:v>Sedan</c:v>
                  </c:pt>
                  <c:pt idx="2">
                    <c:v>SUV</c:v>
                  </c:pt>
                  <c:pt idx="3">
                    <c:v>Auto</c:v>
                  </c:pt>
                  <c:pt idx="4">
                    <c:v>Bike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4.5</c:v>
                </c:pt>
                <c:pt idx="2">
                  <c:v>4.4</c:v>
                </c:pt>
                <c:pt idx="3">
                  <c:v>4.1</c:v>
                </c:pt>
                <c:pt idx="4">
                  <c:v>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Rating</c:v>
                </c:pt>
              </c:strCache>
            </c:strRef>
          </c:tx>
          <c:spPr>
            <a:solidFill>
              <a:srgbClr val="0B3D2E"/>
            </a:solidFill>
            <a:ln w="25400" cap="flat">
              <a:solidFill>
                <a:srgbClr val="0B3D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3D2E"/>
              </a:solidFill>
              <a:ln w="9525" cap="flat">
                <a:solidFill>
                  <a:srgbClr val="0B3D2E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3.8</c:v>
                </c:pt>
                <c:pt idx="1">
                  <c:v>4</c:v>
                </c:pt>
                <c:pt idx="2">
                  <c:v>4.2</c:v>
                </c:pt>
                <c:pt idx="3">
                  <c:v>4.3</c:v>
                </c:pt>
                <c:pt idx="4">
                  <c:v>4.5</c:v>
                </c:pt>
                <c:pt idx="5">
                  <c:v>4.6</c:v>
                </c:pt>
                <c:pt idx="6">
                  <c:v>4.8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3.9</c:v>
                </c:pt>
                <c:pt idx="1">
                  <c:v>4.1</c:v>
                </c:pt>
                <c:pt idx="2">
                  <c:v>4</c:v>
                </c:pt>
                <c:pt idx="3">
                  <c:v>4.4</c:v>
                </c:pt>
                <c:pt idx="4">
                  <c:v>4.3</c:v>
                </c:pt>
                <c:pt idx="5">
                  <c:v>4.7</c:v>
                </c:pt>
                <c:pt idx="6">
                  <c:v>4.6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4" Type="http://schemas.openxmlformats.org/officeDocument/2006/relationships/chart" Target="/ppt/charts/chart6.xm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943600" cy="5943600"/>
          </a:xfrm>
          <a:prstGeom prst="ellipse">
            <a:avLst/>
          </a:prstGeom>
          <a:solidFill>
            <a:srgbClr val="E8F1E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548640"/>
            <a:ext cx="2743200" cy="274320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8065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6517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OLA Ride Bookings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9436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&amp; Analysis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4343400"/>
            <a:ext cx="82296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617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Dipesh Maindolia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4983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Data Analyst &amp; Business Analytics Roles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Is About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dashboard built on OLA's ride-booking data to understand how the business is performing day to day — how many rides are happening, which ones succeed or get cancelled, where the revenue comes from, and how customers and drivers rate their rides.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E8F1EC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3587191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Ride Trends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4480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ride volume moves over time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32004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E8F1EC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79" y="358719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Cancellations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429000" y="4480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why rides are cancelled, by whom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43600" y="32004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E8F1EC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7220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959" y="3587191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Revenue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126480" y="4480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revenue down by payment mode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641080" y="320040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E8F1EC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86968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439" y="3587191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82396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823960" y="4480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customer &amp; driver satisfaction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406640" y="146304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0B3D2E"/>
          </a:solidFill>
          <a:ln/>
        </p:spPr>
      </p:sp>
      <p:sp>
        <p:nvSpPr>
          <p:cNvPr id="26" name="Text 20"/>
          <p:cNvSpPr/>
          <p:nvPr/>
        </p:nvSpPr>
        <p:spPr>
          <a:xfrm>
            <a:off x="7589520" y="1572768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C5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600" dirty="0"/>
          </a:p>
        </p:txBody>
      </p:sp>
      <p:sp>
        <p:nvSpPr>
          <p:cNvPr id="27" name="Text 21"/>
          <p:cNvSpPr/>
          <p:nvPr/>
        </p:nvSpPr>
        <p:spPr>
          <a:xfrm>
            <a:off x="7589520" y="2331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per ride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7406640" y="146304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0B3D2E">
              <a:alpha val="0"/>
            </a:srgbClr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Data Analyst Project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Columns Behind the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ride record captures trip details, timing, status, and feedback.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E8F1EC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9456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134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Details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" y="3291840"/>
            <a:ext cx="22037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ID &amp; Status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&amp; Drop Location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55848" y="196596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E8F1EC"/>
          </a:solidFill>
          <a:ln/>
        </p:spPr>
      </p:sp>
      <p:sp>
        <p:nvSpPr>
          <p:cNvPr id="11" name="Shape 8"/>
          <p:cNvSpPr/>
          <p:nvPr/>
        </p:nvSpPr>
        <p:spPr>
          <a:xfrm>
            <a:off x="3557016" y="219456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3134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8728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Timing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57016" y="3291840"/>
            <a:ext cx="22037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V_TAT / C_TAT (turnaround time)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63056" y="196596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E8F1EC"/>
          </a:solidFill>
          <a:ln/>
        </p:spPr>
      </p:sp>
      <p:sp>
        <p:nvSpPr>
          <p:cNvPr id="16" name="Shape 12"/>
          <p:cNvSpPr/>
          <p:nvPr/>
        </p:nvSpPr>
        <p:spPr>
          <a:xfrm>
            <a:off x="6364224" y="219456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231343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64224" y="3291840"/>
            <a:ext cx="22037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by Customer / Driver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Rides &amp; Reason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70264" y="1965960"/>
            <a:ext cx="2606040" cy="4160520"/>
          </a:xfrm>
          <a:prstGeom prst="roundRect">
            <a:avLst>
              <a:gd name="adj" fmla="val 2807"/>
            </a:avLst>
          </a:prstGeom>
          <a:solidFill>
            <a:srgbClr val="E8F1EC"/>
          </a:solidFill>
          <a:ln/>
        </p:spPr>
      </p:sp>
      <p:sp>
        <p:nvSpPr>
          <p:cNvPr id="21" name="Shape 16"/>
          <p:cNvSpPr/>
          <p:nvPr/>
        </p:nvSpPr>
        <p:spPr>
          <a:xfrm>
            <a:off x="9171432" y="219456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231343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53144" y="2788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Ratings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171432" y="3291840"/>
            <a:ext cx="220370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Value &amp; Payment Method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Distance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&amp; Customer Rating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Data Analyst Project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Focused Views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is split into simple pages, each answering one business question.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E8F1EC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30552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377" y="2263689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39112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749040" y="2039112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volume over time · Booking status breakdown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898648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063240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77" y="3196377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971800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49040" y="2971800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vehicle types by ride distance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831336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E8F1EC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399592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377" y="4129065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904488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3749040" y="3904488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payment method · Top 5 customers · Ride distance per day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764024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4928616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77" y="5061753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837176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3749040" y="4837176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ride reasons — by customer and by driver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5696712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E8F1EC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77240" y="586130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377" y="5994441"/>
            <a:ext cx="245791" cy="24579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5769864"/>
            <a:ext cx="2103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3749040" y="5769864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rating distribution · Customer vs. driver ratings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Data Analyst Project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1 · OVERALL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 Volume &amp; Booking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Volume Over Time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148840"/>
          <a:ext cx="5029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4160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time-series view showing how ride counts move day by day or week by week — useful for spotting trends and peak periods.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5544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Status Breakdown</a:t>
            </a:r>
            <a:endParaRPr lang="en-US" sz="14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720840" y="2103120"/>
          <a:ext cx="3108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644652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donut chart splitting bookings into successful, cancelled (by customer or driver), and incomplete rides.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Data Analyst Project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2 &amp; 3 · VEHICLE TYPE &amp; REVENUE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Performance &amp; Revenue Mix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Vehicle Types by Ride Distance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148840"/>
          <a:ext cx="49377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4663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vehicle categories by total distance covered — shows which vehicle types drive the most ride activity.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80760" y="155448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Payment Method</a:t>
            </a:r>
            <a:endParaRPr lang="en-US" sz="135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309360" y="2148840"/>
          <a:ext cx="50292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6355080" y="46634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on this page: Top 5 customers by booking value, and ride distance distribution per day.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Data Analyst Project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4 · CANCELLATION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Rides Get Cancelled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bar charts compare cancellation reasons raised by customers versus drivers.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677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94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by Customer</a:t>
            </a:r>
            <a:endParaRPr lang="en-US" sz="13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77240" y="274320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6172200" y="192024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46520" y="214884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26771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40880" y="2194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by Driver</a:t>
            </a:r>
            <a:endParaRPr lang="en-US" sz="135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400800" y="274320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Data Analyst Project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5 · RATINGS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Driver Ratings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Customer Rating by Vehicle Type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148840"/>
          <a:ext cx="49377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4663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included: driver rating distribution across vehicle types, shown as a box-plot style spread.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80760" y="155448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vs. Driver Ratings</a:t>
            </a:r>
            <a:endParaRPr lang="en-US" sz="13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309360" y="2148840"/>
          <a:ext cx="50292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6355080" y="46634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scatter plot comparing how customer and driver ratings relate to each other across rides.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Data Analyst Project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E8F1EC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5740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" y="21881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127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design, DAX measures, interactive visuals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8288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E8F1EC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93008" y="205740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767" y="21881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74720" y="3127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raw ride data into clean, usable tables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8288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E8F1EC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36208" y="205740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967" y="218815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17920" y="3127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distribution &amp; comparison analysis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778240" y="18288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E8F1EC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79408" y="205740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167" y="218815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961120" y="3127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Organising insights into five clear, focused views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for Data / Business Analytics Roles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4617720"/>
            <a:ext cx="2798064" cy="457200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26" name="Text 20"/>
          <p:cNvSpPr/>
          <p:nvPr/>
        </p:nvSpPr>
        <p:spPr>
          <a:xfrm>
            <a:off x="548640" y="461772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529584" y="4617720"/>
            <a:ext cx="2505456" cy="457200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28" name="Text 22"/>
          <p:cNvSpPr/>
          <p:nvPr/>
        </p:nvSpPr>
        <p:spPr>
          <a:xfrm>
            <a:off x="3529584" y="461772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217920" y="4617720"/>
            <a:ext cx="3090672" cy="457200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30" name="Text 24"/>
          <p:cNvSpPr/>
          <p:nvPr/>
        </p:nvSpPr>
        <p:spPr>
          <a:xfrm>
            <a:off x="6217920" y="461772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9491472" y="4617720"/>
            <a:ext cx="3236976" cy="457200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32" name="Text 26"/>
          <p:cNvSpPr/>
          <p:nvPr/>
        </p:nvSpPr>
        <p:spPr>
          <a:xfrm>
            <a:off x="9491472" y="461772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12911328" y="4617720"/>
            <a:ext cx="3529584" cy="457200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/>
        </p:spPr>
      </p:sp>
      <p:sp>
        <p:nvSpPr>
          <p:cNvPr id="34" name="Text 28"/>
          <p:cNvSpPr/>
          <p:nvPr/>
        </p:nvSpPr>
        <p:spPr>
          <a:xfrm>
            <a:off x="12911328" y="461772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Reporting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Data Analyst Project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5029200" cy="5029200"/>
          </a:xfrm>
          <a:prstGeom prst="ellipse">
            <a:avLst/>
          </a:prstGeom>
          <a:solidFill>
            <a:srgbClr val="134C3A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657600" cy="3657600"/>
          </a:xfrm>
          <a:prstGeom prst="ellipse">
            <a:avLst/>
          </a:prstGeom>
          <a:solidFill>
            <a:srgbClr val="134C3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Ride Bookings — Power BI Dashboard Project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3657600"/>
            <a:ext cx="82296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Dipesh Maindolia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B.S. Data Science, IIT Madras  ·  B.Tech IT, GBPUAT Pantnagar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Data Analyst Project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OLA Data Analyst Project</dc:title>
  <dc:subject>PptxGenJS Presentation</dc:subject>
  <dc:creator>Dipesh Maindolia</dc:creator>
  <cp:lastModifiedBy>Dipesh Maindolia</cp:lastModifiedBy>
  <cp:revision>1</cp:revision>
  <dcterms:created xsi:type="dcterms:W3CDTF">2026-07-08T05:47:21Z</dcterms:created>
  <dcterms:modified xsi:type="dcterms:W3CDTF">2026-07-08T05:47:21Z</dcterms:modified>
</cp:coreProperties>
</file>